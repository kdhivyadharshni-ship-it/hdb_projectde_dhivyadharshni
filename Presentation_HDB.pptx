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8E502-340C-4594-8325-8DE2F36B341F}" v="814" dt="2026-05-01T00:37:44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12629 8193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11165 8281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11183 7576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14570 5935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14728 5265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8819 4842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11218 5724 16383 0 0,'6'10'0'0'0,"1"4"0"0"0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11352 5353 16383 0 0,'-10'0'0'0'0,"-4"0"0"0"0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2390 16383 0 0,'0'0'0'0'0,"0"11"0"0"0,0 8 0 0 0,0 12 0 0 0,0 6 0 0 0,0 12 0 0 0,0 9 0 0 0,0 0 0 0 0,0-5 0 0 0,0-6 0 0 0,0-1 0 0 0,0-2 0 0 0,0 1 0 0 0,0 4 0 0 0,0-1 0 0 0,0 2 0 0 0,0-2 0 0 0,0-5 0 0 0,0-3 0 0 0,0 1 0 0 0,0 0 0 0 0,0 2 0 0 0,0 1 0 0 0,0 2 0 0 0,0-1 0 0 0,0-3 0 0 0,0-3 0 0 0,0 2 0 0 0,0 0 0 0 0,0 3 0 0 0,0 0 0 0 0,0-3 0 0 0,0-3 0 0 0,0 3 0 0 0,0 0 0 0 0,0 3 0 0 0,0-1 0 0 0,0 4 0 0 0,0-7 0 0 0,0-5 0 0 0,0 3 0 0 0,0 5 0 0 0,0-10 0 0 0,0-11 0 0 0,0-9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6108 16383 0 0,'0'-6'0'0'0,"0"-11"0"0"0,0-15 0 0 0,0-6 0 0 0,0-7 0 0 0,0-2 0 0 0,0-4 0 0 0,0 3 0 0 0,0-8 0 0 0,0 2 0 0 0,0 3 0 0 0,0 7 0 0 0,0-2 0 0 0,0-2 0 0 0,0 2 0 0 0,0-3 0 0 0,0-3 0 0 0,0 2 0 0 0,0-1 0 0 0,0 2 0 0 0,0 0 0 0 0,0 2 0 0 0,0 5 0 0 0,0 3 0 0 0,0-2 0 0 0,0 1 0 0 0,0 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4683 16383 0 0,'0'5'0'0'0,"0"8"0"0"0,0 11 0 0 0,0 13 0 0 0,0 10 0 0 0,0 3 0 0 0,0 3 0 0 0,0-2 0 0 0,0-4 0 0 0,0-5 0 0 0,0 1 0 0 0,0-2 0 0 0,0 3 0 0 0,0 0 0 0 0,0-3 0 0 0,0-3 0 0 0,0 2 0 0 0,0 1 0 0 0,0-3 0 0 0,0 4 0 0 0,0 5 0 0 0,0-5 0 0 0,0 0 0 0 0,0-1 0 0 0,0 2 0 0 0,0 0 0 0 0,0 3 0 0 0,0 4 0 0 0,0-1 0 0 0,0 7 0 0 0,0 5 0 0 0,0-3 0 0 0,0-1 0 0 0,0 1 0 0 0,0 1 0 0 0,0 1 0 0 0,0 0 0 0 0,0-3 0 0 0,0-13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8480 6906 16383 0 0,'0'10'0'0'0,"0"10"0"0"0,0 11 0 0 0,0 11 0 0 0,0 4 0 0 0,0 4 0 0 0,0 0 0 0 0,0 1 0 0 0,0 3 0 0 0,0-3 0 0 0,0 1 0 0 0,0-3 0 0 0,0 0 0 0 0,0 3 0 0 0,0-2 0 0 0,0 1 0 0 0,0-4 0 0 0,0 2 0 0 0,0 3 0 0 0,0-2 0 0 0,0 0 0 0 0,0-2 0 0 0,0 1 0 0 0,0 3 0 0 0,0-2 0 0 0,0 0 0 0 0,0-2 0 0 0,0 1 0 0 0,0 3 0 0 0,0-2 0 0 0,0 0 0 0 0,0-2 0 0 0,0-4 0 0 0,0-5 0 0 0,0-3 0 0 0,0-2 0 0 0,0-3 0 0 0,0 0 0 0 0,0-1 0 0 0,0 6 0 0 0,0 1 0 0 0,0 6 0 0 0,0 0 0 0 0,0-1 0 0 0,0 2 0 0 0,0-6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5927 1279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8449 2887 16383 0 0,'11'0'0'0'0,"8"0"0"0"0,12 0 0 0 0,6 0 0 0 0,2 0 0 0 0,-1 0 0 0 0,-1 0 0 0 0,4 0 0 0 0,0 0 0 0 0,3 0 0 0 0,1 0 0 0 0,-4 0 0 0 0,-2 0 0 0 0,2 0 0 0 0,0 0 0 0 0,3 0 0 0 0,0 0 0 0 0,-3 0 0 0 0,-3 0 0 0 0,3 0 0 0 0,0 0 0 0 0,3 0 0 0 0,0 0 0 0 0,2 0 0 0 0,15 0 0 0 0,14 0 0 0 0,3 0 0 0 0,0 0 0 0 0,8 0 0 0 0,15 0 0 0 0,7 0 0 0 0,-5 0 0 0 0,-14 0 0 0 0,-17 0 0 0 0,-16 0 0 0 0,-6 0 0 0 0,-7 0 0 0 0,0 0 0 0 0,-2 0 0 0 0,-3 0 0 0 0,-2 0 0 0 0,3 0 0 0 0,0 0 0 0 0,5 0 0 0 0,4 0 0 0 0,11 0 0 0 0,11 0 0 0 0,4 0 0 0 0,0 0 0 0 0,3 0 0 0 0,0 0 0 0 0,-4 0 0 0 0,-2 0 0 0 0,-9 0 0 0 0,-5 0 0 0 0,-5 0 0 0 0,-8 0 0 0 0,16 0 0 0 0,19 0 0 0 0,1 0 0 0 0,-8 0 0 0 0,-5 0 0 0 0,-9 0 0 0 0,-4 0 0 0 0,-5 0 0 0 0,-7 0 0 0 0,12 0 0 0 0,7 0 0 0 0,8 0 0 0 0,10 0 0 0 0,16 0 0 0 0,-1 0 0 0 0,3 0 0 0 0,2 0 0 0 0,-5 0 0 0 0,-9 0 0 0 0,-8 0 0 0 0,-6 0 0 0 0,-10 0 0 0 0,-10 0 0 0 0,-4 0 0 0 0,-3 0 0 0 0,0 0 0 0 0,4 0 0 0 0,4 0 0 0 0,15 0 0 0 0,6 0 0 0 0,1 0 0 0 0,-6 0 0 0 0,-15 0 0 0 0,-11 0 0 0 0,-3 0 0 0 0,4 0 0 0 0,-1 0 0 0 0,3 0 0 0 0,20 0 0 0 0,11 0 0 0 0,1 0 0 0 0,0 0 0 0 0,-4 0 0 0 0,-3 0 0 0 0,2 0 0 0 0,0 0 0 0 0,3 0 0 0 0,5 0 0 0 0,4 0 0 0 0,0 0 0 0 0,-5 0 0 0 0,10 0 0 0 0,12 0 0 0 0,0 0 0 0 0,-3 0 0 0 0,10 0 0 0 0,7 0 0 0 0,5 0 0 0 0,3 0 0 0 0,8 0 0 0 0,-3 0 0 0 0,-8 0 0 0 0,-12 0 0 0 0,-16 0 0 0 0,-17 0 0 0 0,-16 0 0 0 0,-13 0 0 0 0,-4 0 0 0 0,2 0 0 0 0,4 0 0 0 0,4 0 0 0 0,9 0 0 0 0,21 0 0 0 0,29 0 0 0 0,26 0 0 0 0,38 0 0 0 0,10 0 0 0 0,1 0 0 0 0,-11 0 0 0 0,-24 0 0 0 0,-28 0 0 0 0,-23 0 0 0 0,-19 0 0 0 0,-12 0 0 0 0,-8 0 0 0 0,-8 0 0 0 0,-3 0 0 0 0,-5 0 0 0 0,1 0 0 0 0,3 0 0 0 0,4 0 0 0 0,3 0 0 0 0,8 0 0 0 0,5 0 0 0 0,-6 0 0 0 0,-2 0 0 0 0,-6 0 0 0 0,-2 0 0 0 0,-5 0 0 0 0,-5 0 0 0 0,-4 0 0 0 0,11 0 0 0 0,41 0 0 0 0,57 0 0 0 0,46 0 0 0 0,32 0 0 0 0,5 0 0 0 0,-28 0 0 0 0,-47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8431 7385 16383 0 0,'0'0'0'0'0,"6"0"0"0"0,17 0 0 0 0,15 0 0 0 0,18 0 0 0 0,25 0 0 0 0,20 0 0 0 0,19 0 0 0 0,1 0 0 0 0,10 0 0 0 0,16 0 0 0 0,8 0 0 0 0,11 0 0 0 0,-3 0 0 0 0,3 0 0 0 0,16 0 0 0 0,35 0 0 0 0,23 0 0 0 0,13 0 0 0 0,-10 0 0 0 0,-31 0 0 0 0,-24 0 0 0 0,-29 0 0 0 0,-25 0 0 0 0,-20 0 0 0 0,-18 0 0 0 0,-11 0 0 0 0,-8 0 0 0 0,-6 0 0 0 0,-1 0 0 0 0,15 0 0 0 0,15 0 0 0 0,16 0 0 0 0,4 0 0 0 0,-2 0 0 0 0,-11 0 0 0 0,-2 0 0 0 0,-3 0 0 0 0,-3 0 0 0 0,-3 0 0 0 0,-7 0 0 0 0,-2 0 0 0 0,20 0 0 0 0,25 0 0 0 0,26 0 0 0 0,18 0 0 0 0,11 0 0 0 0,1 0 0 0 0,-1 0 0 0 0,0 0 0 0 0,-11 0 0 0 0,-13 0 0 0 0,-20 0 0 0 0,-17 0 0 0 0,-15 0 0 0 0,-5 0 0 0 0,1 0 0 0 0,-2 0 0 0 0,2 0 0 0 0,-1 0 0 0 0,-8 0 0 0 0,-5 0 0 0 0,9 0 0 0 0,2 0 0 0 0,-1 0 0 0 0,-1 0 0 0 0,-2 0 0 0 0,7 0 0 0 0,8 0 0 0 0,-6 0 0 0 0,-10 0 0 0 0,-1 0 0 0 0,-13 0 0 0 0,-9 0 0 0 0,-7 0 0 0 0,-10 0 0 0 0,-5 0 0 0 0,-6 0 0 0 0,0 0 0 0 0,-4 0 0 0 0,-4 0 0 0 0,3 0 0 0 0,3 0 0 0 0,6 0 0 0 0,-2 0 0 0 0,2 0 0 0 0,-3 0 0 0 0,1 0 0 0 0,-3 0 0 0 0,-4 0 0 0 0,-4 0 0 0 0,2 0 0 0 0,-1 0 0 0 0,4 0 0 0 0,-1 0 0 0 0,-2 0 0 0 0,-3 0 0 0 0,3 0 0 0 0,0 0 0 0 0,3 0 0 0 0,-1 0 0 0 0,-1 0 0 0 0,-4 0 0 0 0,-8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16157 7347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17568 7153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7400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10.xml"/><Relationship Id="rId18" Type="http://schemas.openxmlformats.org/officeDocument/2006/relationships/image" Target="../media/image8.png"/><Relationship Id="rId26" Type="http://schemas.openxmlformats.org/officeDocument/2006/relationships/customXml" Target="../ink/ink18.xml"/><Relationship Id="rId3" Type="http://schemas.openxmlformats.org/officeDocument/2006/relationships/image" Target="../media/image1.png"/><Relationship Id="rId21" Type="http://schemas.openxmlformats.org/officeDocument/2006/relationships/image" Target="../media/image9.png"/><Relationship Id="rId7" Type="http://schemas.openxmlformats.org/officeDocument/2006/relationships/customXml" Target="../ink/ink7.xml"/><Relationship Id="rId12" Type="http://schemas.openxmlformats.org/officeDocument/2006/relationships/image" Target="../media/image5.png"/><Relationship Id="rId17" Type="http://schemas.openxmlformats.org/officeDocument/2006/relationships/customXml" Target="../ink/ink12.xml"/><Relationship Id="rId25" Type="http://schemas.openxmlformats.org/officeDocument/2006/relationships/customXml" Target="../ink/ink17.xml"/><Relationship Id="rId2" Type="http://schemas.openxmlformats.org/officeDocument/2006/relationships/customXml" Target="../ink/ink4.xml"/><Relationship Id="rId16" Type="http://schemas.openxmlformats.org/officeDocument/2006/relationships/image" Target="../media/image7.png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customXml" Target="../ink/ink9.xml"/><Relationship Id="rId24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customXml" Target="../ink/ink11.xml"/><Relationship Id="rId23" Type="http://schemas.openxmlformats.org/officeDocument/2006/relationships/image" Target="../media/image10.png"/><Relationship Id="rId10" Type="http://schemas.openxmlformats.org/officeDocument/2006/relationships/image" Target="../media/image4.png"/><Relationship Id="rId19" Type="http://schemas.openxmlformats.org/officeDocument/2006/relationships/customXml" Target="../ink/ink13.xml"/><Relationship Id="rId4" Type="http://schemas.openxmlformats.org/officeDocument/2006/relationships/customXml" Target="../ink/ink5.xml"/><Relationship Id="rId9" Type="http://schemas.openxmlformats.org/officeDocument/2006/relationships/customXml" Target="../ink/ink8.xml"/><Relationship Id="rId14" Type="http://schemas.openxmlformats.org/officeDocument/2006/relationships/image" Target="../media/image6.png"/><Relationship Id="rId22" Type="http://schemas.openxmlformats.org/officeDocument/2006/relationships/customXml" Target="../ink/ink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rgbClr val="FF0000"/>
                </a:solidFill>
                <a:ea typeface="+mj-lt"/>
                <a:cs typeface="+mj-lt"/>
              </a:rPr>
              <a:t>HDB Data Engineering Project</a:t>
            </a:r>
            <a:br>
              <a:rPr lang="en-US" b="1" dirty="0">
                <a:solidFill>
                  <a:srgbClr val="FF0000"/>
                </a:solidFill>
                <a:ea typeface="+mj-lt"/>
                <a:cs typeface="+mj-lt"/>
              </a:rPr>
            </a:b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>
                <a:latin typeface="Aptos Display"/>
              </a:rPr>
              <a:t>Part 2: Architecture Design (Data Ingestion &amp; Exploitation)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6DB5D-3871-C344-A95C-871202A0B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latin typeface="Aptos Display"/>
              </a:rPr>
              <a:t>Objective: </a:t>
            </a:r>
            <a:r>
              <a:rPr lang="en-US" sz="4000" dirty="0" err="1">
                <a:latin typeface="Aptos Display"/>
              </a:rPr>
              <a:t>Operationalise</a:t>
            </a:r>
            <a:r>
              <a:rPr lang="en-US" sz="4000" dirty="0">
                <a:latin typeface="Aptos Display"/>
              </a:rPr>
              <a:t> data pipeline on AWS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Support end-to-end data flow from ingestion to analytics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Ensure: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Security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Scalability </a:t>
            </a:r>
          </a:p>
          <a:p>
            <a:pPr>
              <a:spcBef>
                <a:spcPct val="0"/>
              </a:spcBef>
            </a:pPr>
            <a:r>
              <a:rPr lang="en-US" sz="4000">
                <a:latin typeface="Aptos Display"/>
              </a:rPr>
              <a:t>Performance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31B0E-AE30-CC20-1C1C-33780CF6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   Background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3B872B-EFFD-00EB-5050-45AC07F4F160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6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7C15-C2FA-F915-DA5F-08880B34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14:cNvPr>
              <p14:cNvContentPartPr/>
              <p14:nvPr/>
            </p14:nvContentPartPr>
            <p14:xfrm>
              <a:off x="5552515" y="4633633"/>
              <a:ext cx="16808" cy="16808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ABE179A-217C-498E-07BA-DAE51EA28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2115" y="3793233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14:cNvPr>
              <p14:cNvContentPartPr/>
              <p14:nvPr/>
            </p14:nvContentPartPr>
            <p14:xfrm>
              <a:off x="4622426" y="4689662"/>
              <a:ext cx="16808" cy="1680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85A76C-854B-60F7-4C9E-8003C083A1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82026" y="3849262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14:cNvPr>
              <p14:cNvContentPartPr/>
              <p14:nvPr/>
            </p14:nvContentPartPr>
            <p14:xfrm>
              <a:off x="4633633" y="4241427"/>
              <a:ext cx="16808" cy="16808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172C112-35C0-17FF-0DAB-B9CCAB05E0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3233" y="3417835"/>
                <a:ext cx="1680800" cy="16808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8CB6D1DA-5F05-99D4-2CF5-315E7E20D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End To End Flow</a:t>
            </a: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data.gov.sg → Glue → S3 (Raw) → Glue → S3 (Processed)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→ Glue Catalog → Athena → Tableau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C2776F-2437-746B-CDD1-16126F9FB390}"/>
              </a:ext>
            </a:extLst>
          </p:cNvPr>
          <p:cNvSpPr txBox="1"/>
          <p:nvPr/>
        </p:nvSpPr>
        <p:spPr>
          <a:xfrm>
            <a:off x="1428093" y="336021"/>
            <a:ext cx="2973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data.gov.sg (Public API)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8F0691-221D-13D7-EDB9-03AAC7A565B3}"/>
              </a:ext>
            </a:extLst>
          </p:cNvPr>
          <p:cNvSpPr/>
          <p:nvPr/>
        </p:nvSpPr>
        <p:spPr>
          <a:xfrm>
            <a:off x="1209678" y="201613"/>
            <a:ext cx="3477827" cy="772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7C73-6864-9864-D655-FA2CB85223FD}"/>
              </a:ext>
            </a:extLst>
          </p:cNvPr>
          <p:cNvSpPr/>
          <p:nvPr/>
        </p:nvSpPr>
        <p:spPr>
          <a:xfrm>
            <a:off x="1192878" y="168011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07E5A-D793-DD6D-CD5C-73EEC1236DF5}"/>
              </a:ext>
            </a:extLst>
          </p:cNvPr>
          <p:cNvSpPr txBox="1"/>
          <p:nvPr/>
        </p:nvSpPr>
        <p:spPr>
          <a:xfrm>
            <a:off x="1338476" y="251954"/>
            <a:ext cx="3276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 Source </a:t>
            </a:r>
            <a:r>
              <a:rPr lang="en-US">
                <a:ea typeface="+mn-lt"/>
                <a:cs typeface="+mn-lt"/>
              </a:rPr>
              <a:t>data.gov.sg (Public API) 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D9015-895E-D017-B9BA-6D834BCAA06F}"/>
              </a:ext>
            </a:extLst>
          </p:cNvPr>
          <p:cNvSpPr/>
          <p:nvPr/>
        </p:nvSpPr>
        <p:spPr>
          <a:xfrm>
            <a:off x="1260112" y="1568746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E- </a:t>
            </a:r>
            <a:r>
              <a:rPr lang="en-US" dirty="0" err="1"/>
              <a:t>Scvent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BAC15CB-DF86-7688-31EC-B301ED72BFD8}"/>
                  </a:ext>
                </a:extLst>
              </p14:cNvPr>
              <p14:cNvContentPartPr/>
              <p14:nvPr/>
            </p14:nvContentPartPr>
            <p14:xfrm>
              <a:off x="6785162" y="3199279"/>
              <a:ext cx="16808" cy="1680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BAC15CB-DF86-7688-31EC-B301ED72BF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1570" y="2358879"/>
                <a:ext cx="1680800" cy="16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6115CBF-D319-395A-4F22-D9AA539A2B00}"/>
                  </a:ext>
                </a:extLst>
              </p14:cNvPr>
              <p14:cNvContentPartPr/>
              <p14:nvPr/>
            </p14:nvContentPartPr>
            <p14:xfrm>
              <a:off x="6886015" y="2773456"/>
              <a:ext cx="16808" cy="16808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6115CBF-D319-395A-4F22-D9AA539A2B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5815" y="2353256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03F7262-0B04-CF2E-8C28-170D09099333}"/>
                  </a:ext>
                </a:extLst>
              </p14:cNvPr>
              <p14:cNvContentPartPr/>
              <p14:nvPr/>
            </p14:nvContentPartPr>
            <p14:xfrm>
              <a:off x="3132045" y="2504515"/>
              <a:ext cx="16808" cy="16808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03F7262-0B04-CF2E-8C28-170D090993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1845" y="2101123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66A5FF-F255-1354-A927-3062D8569B54}"/>
                  </a:ext>
                </a:extLst>
              </p14:cNvPr>
              <p14:cNvContentPartPr/>
              <p14:nvPr/>
            </p14:nvContentPartPr>
            <p14:xfrm>
              <a:off x="4656044" y="3064809"/>
              <a:ext cx="16808" cy="1680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66A5FF-F255-1354-A927-3062D8569B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3721" y="3049294"/>
                <a:ext cx="80161" cy="48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018938-77AA-F1A6-E492-262E968F41B0}"/>
                  </a:ext>
                </a:extLst>
              </p14:cNvPr>
              <p14:cNvContentPartPr/>
              <p14:nvPr/>
            </p14:nvContentPartPr>
            <p14:xfrm>
              <a:off x="4725608" y="2829485"/>
              <a:ext cx="16808" cy="16808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018938-77AA-F1A6-E492-262E968F41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10093" y="2409285"/>
                <a:ext cx="48485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737FA2B-71B3-9BC1-EFF5-050B11C30528}"/>
              </a:ext>
            </a:extLst>
          </p:cNvPr>
          <p:cNvSpPr txBox="1"/>
          <p:nvPr/>
        </p:nvSpPr>
        <p:spPr>
          <a:xfrm>
            <a:off x="1360889" y="2301750"/>
            <a:ext cx="3461026" cy="504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CC3F20-DFF5-9768-48BA-DDBC81AD0FC9}"/>
              </a:ext>
            </a:extLst>
          </p:cNvPr>
          <p:cNvSpPr txBox="1"/>
          <p:nvPr/>
        </p:nvSpPr>
        <p:spPr>
          <a:xfrm>
            <a:off x="1517771" y="1791920"/>
            <a:ext cx="32426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Event Bridge - Scheduler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0DC703-C4F1-9969-3B83-310CF8E3975D}"/>
              </a:ext>
            </a:extLst>
          </p:cNvPr>
          <p:cNvSpPr/>
          <p:nvPr/>
        </p:nvSpPr>
        <p:spPr>
          <a:xfrm>
            <a:off x="1260112" y="3025510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Event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DCF66D-DD3E-8831-6CB7-D85697413743}"/>
              </a:ext>
            </a:extLst>
          </p:cNvPr>
          <p:cNvSpPr txBox="1"/>
          <p:nvPr/>
        </p:nvSpPr>
        <p:spPr>
          <a:xfrm>
            <a:off x="1444894" y="3108202"/>
            <a:ext cx="32762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Aws Glue job – Transformation and </a:t>
            </a:r>
            <a:r>
              <a:rPr lang="en-US"/>
              <a:t>store</a:t>
            </a:r>
            <a:r>
              <a:rPr lang="en-US" dirty="0"/>
              <a:t> it in S3 bucket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E63FFD-B609-04A8-0981-208242AE16BC}"/>
              </a:ext>
            </a:extLst>
          </p:cNvPr>
          <p:cNvSpPr/>
          <p:nvPr/>
        </p:nvSpPr>
        <p:spPr>
          <a:xfrm>
            <a:off x="1260112" y="4471068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Event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88867B-97F9-C550-C4F6-7D7AA8ADDCA7}"/>
              </a:ext>
            </a:extLst>
          </p:cNvPr>
          <p:cNvSpPr txBox="1"/>
          <p:nvPr/>
        </p:nvSpPr>
        <p:spPr>
          <a:xfrm>
            <a:off x="2005188" y="4687568"/>
            <a:ext cx="3209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Tableau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08AB794-FEE7-A61D-9918-AA4EB4B96991}"/>
                  </a:ext>
                </a:extLst>
              </p14:cNvPr>
              <p14:cNvContentPartPr/>
              <p14:nvPr/>
            </p14:nvContentPartPr>
            <p14:xfrm>
              <a:off x="2916284" y="946897"/>
              <a:ext cx="16808" cy="650278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08AB794-FEE7-A61D-9918-AA4EB4B969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12892" y="937900"/>
                <a:ext cx="840400" cy="667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FCD9F94-705F-4733-A40B-1142E9B3476F}"/>
                  </a:ext>
                </a:extLst>
              </p14:cNvPr>
              <p14:cNvContentPartPr/>
              <p14:nvPr/>
            </p14:nvContentPartPr>
            <p14:xfrm>
              <a:off x="2916284" y="2564846"/>
              <a:ext cx="16808" cy="421521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FCD9F94-705F-4733-A40B-1142E9B3476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12892" y="2556214"/>
                <a:ext cx="840400" cy="439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D9B4F60-6E0B-207E-352C-FEB84FFE4996}"/>
                  </a:ext>
                </a:extLst>
              </p14:cNvPr>
              <p14:cNvContentPartPr/>
              <p14:nvPr/>
            </p14:nvContentPartPr>
            <p14:xfrm>
              <a:off x="2916284" y="2403661"/>
              <a:ext cx="16808" cy="631452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9B4F60-6E0B-207E-352C-FEB84FFE499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12892" y="2394666"/>
                <a:ext cx="840400" cy="649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F208DA-687F-F860-7890-FD75A312E340}"/>
                  </a:ext>
                </a:extLst>
              </p14:cNvPr>
              <p14:cNvContentPartPr/>
              <p14:nvPr/>
            </p14:nvContentPartPr>
            <p14:xfrm>
              <a:off x="2916284" y="3815602"/>
              <a:ext cx="16808" cy="730799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F208DA-687F-F860-7890-FD75A312E34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12892" y="3806966"/>
                <a:ext cx="840400" cy="74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14:cNvPr>
              <p14:cNvContentPartPr/>
              <p14:nvPr/>
            </p14:nvContentPartPr>
            <p14:xfrm>
              <a:off x="1294279" y="240927"/>
              <a:ext cx="16808" cy="16808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0887" y="-162465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5A823AF-FB0A-E5A3-89B5-D84E618853B0}"/>
                  </a:ext>
                </a:extLst>
              </p14:cNvPr>
              <p14:cNvContentPartPr/>
              <p14:nvPr/>
            </p14:nvContentPartPr>
            <p14:xfrm>
              <a:off x="2896721" y="1262369"/>
              <a:ext cx="4356851" cy="16808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5A823AF-FB0A-E5A3-89B5-D84E618853B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87721" y="858977"/>
                <a:ext cx="437449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0197D70C-82D3-13BE-EB25-3565C63403C4}"/>
              </a:ext>
            </a:extLst>
          </p:cNvPr>
          <p:cNvSpPr/>
          <p:nvPr/>
        </p:nvSpPr>
        <p:spPr>
          <a:xfrm>
            <a:off x="6101054" y="907599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62858AE-7C71-D0D4-0E74-BAC1EADDB2E0}"/>
              </a:ext>
            </a:extLst>
          </p:cNvPr>
          <p:cNvSpPr/>
          <p:nvPr/>
        </p:nvSpPr>
        <p:spPr>
          <a:xfrm>
            <a:off x="6605318" y="3697864"/>
            <a:ext cx="3561832" cy="8064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B966A63-A258-20D8-8F3D-D845B7EF5A7F}"/>
                  </a:ext>
                </a:extLst>
              </p14:cNvPr>
              <p14:cNvContentPartPr/>
              <p14:nvPr/>
            </p14:nvContentPartPr>
            <p14:xfrm>
              <a:off x="2885515" y="4119869"/>
              <a:ext cx="3729952" cy="16808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B966A63-A258-20D8-8F3D-D845B7EF5A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876516" y="3716477"/>
                <a:ext cx="374759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A962CC44-7851-4567-0ECB-6223C48CA0E3}"/>
              </a:ext>
            </a:extLst>
          </p:cNvPr>
          <p:cNvSpPr txBox="1"/>
          <p:nvPr/>
        </p:nvSpPr>
        <p:spPr>
          <a:xfrm>
            <a:off x="6266809" y="991264"/>
            <a:ext cx="32594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NAT </a:t>
            </a:r>
            <a:r>
              <a:rPr lang="en-US" dirty="0" err="1"/>
              <a:t>Gatway</a:t>
            </a:r>
            <a:r>
              <a:rPr lang="en-US" dirty="0"/>
              <a:t>( </a:t>
            </a:r>
            <a:r>
              <a:rPr lang="en-US" dirty="0">
                <a:ea typeface="+mn-lt"/>
                <a:cs typeface="+mn-lt"/>
              </a:rPr>
              <a:t>Public Subnet)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ADF25BA-1078-6233-C47B-C1CB1EFC8FB3}"/>
                  </a:ext>
                </a:extLst>
              </p14:cNvPr>
              <p14:cNvContentPartPr/>
              <p14:nvPr/>
            </p14:nvContentPartPr>
            <p14:xfrm>
              <a:off x="7793691" y="4095750"/>
              <a:ext cx="16808" cy="16808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ADF25BA-1078-6233-C47B-C1CB1EFC8F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3491" y="3692358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AD9534F-3A0B-EE91-921D-BF29D15E299D}"/>
                  </a:ext>
                </a:extLst>
              </p14:cNvPr>
              <p14:cNvContentPartPr/>
              <p14:nvPr/>
            </p14:nvContentPartPr>
            <p14:xfrm>
              <a:off x="8690162" y="3972485"/>
              <a:ext cx="16808" cy="16808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AD9534F-3A0B-EE91-921D-BF29D15E29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9962" y="3569093"/>
                <a:ext cx="84040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9DDC7DFC-EF1B-C664-5059-74609E2474AA}"/>
              </a:ext>
            </a:extLst>
          </p:cNvPr>
          <p:cNvSpPr txBox="1"/>
          <p:nvPr/>
        </p:nvSpPr>
        <p:spPr>
          <a:xfrm>
            <a:off x="6804444" y="3847451"/>
            <a:ext cx="31754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Athena – For querying 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14:cNvPr>
              <p14:cNvContentPartPr/>
              <p14:nvPr/>
            </p14:nvContentPartPr>
            <p14:xfrm>
              <a:off x="-1820955" y="4129368"/>
              <a:ext cx="16808" cy="16808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241155" y="3725976"/>
                <a:ext cx="840400" cy="84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11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0C9D-F798-9F95-C5A1-27F9C553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E125-84B6-82C2-1965-19B26D6F1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7326-2F9C-7BA0-4578-45248581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Ingestion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3727F-D1EA-33CA-65CE-9BEC927E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from data.gov.sg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Scheduled using </a:t>
            </a:r>
            <a:r>
              <a:rPr lang="en-US" dirty="0" err="1">
                <a:ea typeface="+mn-lt"/>
                <a:cs typeface="+mn-lt"/>
              </a:rPr>
              <a:t>EventBridge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AWS Glue used for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 files (&gt;100MB)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stored in S3 (Raw Zone)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1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B8AE-727A-891F-497D-2768563A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Ingestion Security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096E-00F5-32FB-3276-37904DC66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Platform deployed in Private VPC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NAT Gateway used for outbound internet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direct public access to internal systems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Block public access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 encryption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62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DCDF-05A3-BE38-D15B-E21F829D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Processing &amp; Data Exploitation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870BE-46E9-2683-0DF6-838E480F4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AWS Glue transforms raw data 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Cleansing and formatting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Convert to </a:t>
            </a:r>
            <a:r>
              <a:rPr lang="en-US" b="1">
                <a:ea typeface="+mn-lt"/>
                <a:cs typeface="+mn-lt"/>
              </a:rPr>
              <a:t>Parquet format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 in S3 (Processed Zone)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AWS Glue Data Catalog manages metadata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queries data directly from 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used for dashboards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6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CC0C-F6EE-218F-F573-C9FF6481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– challenges &amp;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362FF-460D-EBBC-15A6-367FC3EEE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Challenges 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Athena requires </a:t>
            </a:r>
            <a:r>
              <a:rPr lang="en-US" b="1" dirty="0">
                <a:ea typeface="+mn-lt"/>
                <a:cs typeface="+mn-lt"/>
              </a:rPr>
              <a:t>public endpoint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connects via Athena driver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Risk: data exposure over internet</a:t>
            </a:r>
            <a:endParaRPr lang="en-US"/>
          </a:p>
          <a:p>
            <a:r>
              <a:rPr lang="en-US" b="1"/>
              <a:t>Solution</a:t>
            </a: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Use VPC Endpoint (AWS </a:t>
            </a:r>
            <a:r>
              <a:rPr lang="en-US" dirty="0" err="1">
                <a:ea typeface="+mn-lt"/>
                <a:cs typeface="+mn-lt"/>
              </a:rPr>
              <a:t>PrivateLink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b="1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Tableau hosted inside VPC </a:t>
            </a:r>
          </a:p>
          <a:p>
            <a:r>
              <a:rPr lang="en-US">
                <a:ea typeface="+mn-lt"/>
                <a:cs typeface="+mn-lt"/>
              </a:rPr>
              <a:t>Private communication with Athena </a:t>
            </a:r>
          </a:p>
          <a:p>
            <a:r>
              <a:rPr lang="en-US">
                <a:ea typeface="+mn-lt"/>
                <a:cs typeface="+mn-lt"/>
              </a:rPr>
              <a:t>No internet exposure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90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3CF0-BD99-6F52-422C-08D69A8D4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Network Architecture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D6E7-DAB1-827F-062E-44D505775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with: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Private Subnet → Glue, Tableau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Public Subnet → NAT Gateway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VPC Endpoints: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S3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9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0B45-28DB-B1F8-16AA-D30EFCC1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Scalability &amp; Performance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5306A-8D92-CB66-68AC-3DA36DB8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S3 → unlimited storage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Glue → auto scaling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→ serverless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Optimizations: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Parquet format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Partitioning (year/month)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778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AFCC-543F-F7AB-B2F5-5A8A9C87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 Design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C89F2-F942-B25A-4281-1C2780B8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Private network (VPC)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Encryption (S3)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IAM roles (least privilege)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public access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33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E7F33-7F29-6B1C-F207-AF866658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Assumptions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956E-A522-0B99-E16B-B6FA6412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Batch ingestion (daily)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real-time processing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Tableau hosted in AWS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volume increases over time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Athena sufficient for analytics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738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135D-4A60-D2D0-94E1-E91C3C8A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393-35E1-5199-8D5D-57A01CB2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Secure and scalable AWS architecture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large-scale ingestion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Enables private and efficient analytics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Meets enterprise data platform requirements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6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HDB Data Engineering Project </vt:lpstr>
      <vt:lpstr>   Background</vt:lpstr>
      <vt:lpstr>Architecture Overview </vt:lpstr>
      <vt:lpstr>PowerPoint Presentation</vt:lpstr>
      <vt:lpstr>PowerPoint Presentation</vt:lpstr>
      <vt:lpstr>Data Ingestion Design</vt:lpstr>
      <vt:lpstr>Ingestion Security</vt:lpstr>
      <vt:lpstr>Data Processing &amp; Data Exploitation</vt:lpstr>
      <vt:lpstr>Security – challenges &amp; Solution</vt:lpstr>
      <vt:lpstr>Network Architecture</vt:lpstr>
      <vt:lpstr>Scalability &amp; Performance</vt:lpstr>
      <vt:lpstr>Security Design</vt:lpstr>
      <vt:lpstr>Assumptions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218</cp:revision>
  <dcterms:created xsi:type="dcterms:W3CDTF">2026-04-27T08:06:03Z</dcterms:created>
  <dcterms:modified xsi:type="dcterms:W3CDTF">2026-05-01T05:15:25Z</dcterms:modified>
</cp:coreProperties>
</file>