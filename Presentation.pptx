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D8E502-340C-4594-8325-8DE2F36B341F}" v="374" dt="2026-04-27T08:33:00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12629 8193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11165 8281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11183 7576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ea typeface="+mj-lt"/>
                <a:cs typeface="+mj-lt"/>
              </a:rPr>
              <a:t>HDB Data Engineering Project</a:t>
            </a:r>
            <a:br>
              <a:rPr lang="en-US" b="1" dirty="0">
                <a:ea typeface="+mj-lt"/>
                <a:cs typeface="+mj-lt"/>
              </a:rPr>
            </a:br>
            <a:endParaRPr lang="en-US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>
                <a:latin typeface="Aptos Display"/>
              </a:rPr>
              <a:t>Part 2: Architecture Design (Data Ingestion &amp; Exploitation)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6DB5D-3871-C344-A95C-871202A0B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latin typeface="Aptos Display"/>
              </a:rPr>
              <a:t>Objective: </a:t>
            </a:r>
            <a:r>
              <a:rPr lang="en-US" sz="4000" dirty="0" err="1">
                <a:latin typeface="Aptos Display"/>
              </a:rPr>
              <a:t>Operationalise</a:t>
            </a:r>
            <a:r>
              <a:rPr lang="en-US" sz="4000" dirty="0">
                <a:latin typeface="Aptos Display"/>
              </a:rPr>
              <a:t> data pipeline on AWS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Support end-to-end data flow from ingestion to analytics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Ensure: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Security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Scalability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Performance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031B0E-AE30-CC20-1C1C-33780CF6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   Background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93B872B-EFFD-00EB-5050-45AC07F4F160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464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27C15-C2FA-F915-DA5F-08880B34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Overview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ABE179A-217C-498E-07BA-DAE51EA286F8}"/>
                  </a:ext>
                </a:extLst>
              </p14:cNvPr>
              <p14:cNvContentPartPr/>
              <p14:nvPr/>
            </p14:nvContentPartPr>
            <p14:xfrm>
              <a:off x="5552515" y="4633633"/>
              <a:ext cx="16808" cy="16808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ABE179A-217C-498E-07BA-DAE51EA286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2115" y="3793233"/>
                <a:ext cx="1680800" cy="16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C85A76C-854B-60F7-4C9E-8003C083A179}"/>
                  </a:ext>
                </a:extLst>
              </p14:cNvPr>
              <p14:cNvContentPartPr/>
              <p14:nvPr/>
            </p14:nvContentPartPr>
            <p14:xfrm>
              <a:off x="4622426" y="4689662"/>
              <a:ext cx="16808" cy="16808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C85A76C-854B-60F7-4C9E-8003C083A1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2026" y="3849262"/>
                <a:ext cx="1680800" cy="16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172C112-35C0-17FF-0DAB-B9CCAB05E022}"/>
                  </a:ext>
                </a:extLst>
              </p14:cNvPr>
              <p14:cNvContentPartPr/>
              <p14:nvPr/>
            </p14:nvContentPartPr>
            <p14:xfrm>
              <a:off x="4633633" y="4241427"/>
              <a:ext cx="16808" cy="16808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172C112-35C0-17FF-0DAB-B9CCAB05E0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3233" y="3417835"/>
                <a:ext cx="1680800" cy="16808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8CB6D1DA-5F05-99D4-2CF5-315E7E20D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End To End Flow</a:t>
            </a:r>
            <a:endParaRPr lang="en-US" b="1" dirty="0">
              <a:ea typeface="+mn-lt"/>
              <a:cs typeface="+mn-lt"/>
            </a:endParaRP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data.gov.sg → Glue → S3 (Raw) → Glue → S3 (Processed)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→ Glue Catalog → Athena → Tableau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7326-2F9C-7BA0-4578-45248581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 Ingestion Design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3727F-D1EA-33CA-65CE-9BEC927EC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Batch ingestion from data.gov.sg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Scheduled using </a:t>
            </a:r>
            <a:r>
              <a:rPr lang="en-US" dirty="0" err="1">
                <a:ea typeface="+mn-lt"/>
                <a:cs typeface="+mn-lt"/>
              </a:rPr>
              <a:t>EventBridge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AWS Glue used for ingestion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Supports large files (&gt;100MB)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stored in S3 (Raw Zone)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1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CB8AE-727A-891F-497D-2768563A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Ingestion Security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6096E-00F5-32FB-3276-37904DC66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Platform deployed in Private VPC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NAT Gateway used for outbound internet access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direct public access to internal systems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S3: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Block public access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Enable encryption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621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DCDF-05A3-BE38-D15B-E21F829D3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 Processing &amp; Data Exploitation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870BE-46E9-2683-0DF6-838E480F4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AWS Glue transforms raw data 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Cleansing and formatting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Convert to </a:t>
            </a:r>
            <a:r>
              <a:rPr lang="en-US" b="1">
                <a:ea typeface="+mn-lt"/>
                <a:cs typeface="+mn-lt"/>
              </a:rPr>
              <a:t>Parquet format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Store in S3 (Processed Zone)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AWS Glue Data Catalog manages metadata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Athena queries data directly from S3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Tableau used for dashboards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563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CC0C-F6EE-218F-F573-C9FF6481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– challenges &amp;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362FF-460D-EBBC-15A6-367FC3EEE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>
                <a:ea typeface="+mn-lt"/>
                <a:cs typeface="+mn-lt"/>
              </a:rPr>
              <a:t>Challenges </a:t>
            </a:r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Athena requires </a:t>
            </a:r>
            <a:r>
              <a:rPr lang="en-US" b="1" dirty="0">
                <a:ea typeface="+mn-lt"/>
                <a:cs typeface="+mn-lt"/>
              </a:rPr>
              <a:t>public endpoint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Tableau connects via Athena driver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Risk: data exposure over internet</a:t>
            </a:r>
            <a:endParaRPr lang="en-US"/>
          </a:p>
          <a:p>
            <a:r>
              <a:rPr lang="en-US" b="1"/>
              <a:t>Solution</a:t>
            </a:r>
            <a:endParaRPr lang="en-US" b="1" dirty="0"/>
          </a:p>
          <a:p>
            <a:r>
              <a:rPr lang="en-US" dirty="0">
                <a:ea typeface="+mn-lt"/>
                <a:cs typeface="+mn-lt"/>
              </a:rPr>
              <a:t>Use VPC Endpoint (AWS </a:t>
            </a:r>
            <a:r>
              <a:rPr lang="en-US" dirty="0" err="1">
                <a:ea typeface="+mn-lt"/>
                <a:cs typeface="+mn-lt"/>
              </a:rPr>
              <a:t>PrivateLink</a:t>
            </a:r>
            <a:r>
              <a:rPr lang="en-US" dirty="0">
                <a:ea typeface="+mn-lt"/>
                <a:cs typeface="+mn-lt"/>
              </a:rPr>
              <a:t>) </a:t>
            </a:r>
            <a:endParaRPr lang="en-US" b="1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Tableau hosted inside VPC </a:t>
            </a:r>
          </a:p>
          <a:p>
            <a:r>
              <a:rPr lang="en-US">
                <a:ea typeface="+mn-lt"/>
                <a:cs typeface="+mn-lt"/>
              </a:rPr>
              <a:t>Private communication with Athena </a:t>
            </a:r>
          </a:p>
          <a:p>
            <a:r>
              <a:rPr lang="en-US">
                <a:ea typeface="+mn-lt"/>
                <a:cs typeface="+mn-lt"/>
              </a:rPr>
              <a:t>No internet exposure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901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3CF0-BD99-6F52-422C-08D69A8D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Network Architecture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7D6E7-DAB1-827F-062E-44D505775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VPC with: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Private Subnet → Glue, Tableau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Public Subnet → NAT Gateway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VPC Endpoints: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S3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Athena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595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0B45-28DB-B1F8-16AA-D30EFCC1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Scalability &amp; Performance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5306A-8D92-CB66-68AC-3DA36DB8D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S3 → unlimited storage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Glue → auto scaling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Athena → serverless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Optimizations: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Parquet format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Partitioning (year/month)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778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AFCC-543F-F7AB-B2F5-5A8A9C877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Security Design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C89F2-F942-B25A-4281-1C2780B85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Private network (VPC)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Encryption (S3)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IAM roles (least privilege)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public access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333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E7F33-7F29-6B1C-F207-AF866658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Assumptions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956E-A522-0B99-E16B-B6FA6412C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Batch ingestion (daily)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real-time processing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Tableau hosted in AWS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volume increases over time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Athena sufficient for analytics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738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135D-4A60-D2D0-94E1-E91C3C8A3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55393-35E1-5199-8D5D-57A01CB2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Secure and scalable AWS architecture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Supports large-scale ingestion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Enables private and efficient analytics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Meets enterprise data platform requirements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06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HDB Data Engineering Project </vt:lpstr>
      <vt:lpstr>   Background</vt:lpstr>
      <vt:lpstr>Architecture Overview </vt:lpstr>
      <vt:lpstr>Data Ingestion Design</vt:lpstr>
      <vt:lpstr>Ingestion Security</vt:lpstr>
      <vt:lpstr>Data Processing &amp; Data Exploitation</vt:lpstr>
      <vt:lpstr>Security – challenges &amp; Solution</vt:lpstr>
      <vt:lpstr>Network Architecture</vt:lpstr>
      <vt:lpstr>Scalability &amp; Performance</vt:lpstr>
      <vt:lpstr>Security Design</vt:lpstr>
      <vt:lpstr>Assumptions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108</cp:revision>
  <dcterms:created xsi:type="dcterms:W3CDTF">2026-04-27T08:06:03Z</dcterms:created>
  <dcterms:modified xsi:type="dcterms:W3CDTF">2026-04-27T08:33:12Z</dcterms:modified>
</cp:coreProperties>
</file>